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80" r:id="rId2"/>
    <p:sldId id="278" r:id="rId3"/>
    <p:sldId id="261" r:id="rId4"/>
    <p:sldId id="262" r:id="rId5"/>
    <p:sldId id="263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>
      <p:cViewPr varScale="1">
        <p:scale>
          <a:sx n="73" d="100"/>
          <a:sy n="73" d="100"/>
        </p:scale>
        <p:origin x="20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D4820-6979-468D-BD1C-37087C628379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F44BB-0AAB-4BC7-B84C-2C8EA8C509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anose="020B0503020204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"/>
          <p:cNvSpPr txBox="1">
            <a:spLocks noGrp="1"/>
          </p:cNvSpPr>
          <p:nvPr>
            <p:ph type="title"/>
          </p:nvPr>
        </p:nvSpPr>
        <p:spPr>
          <a:xfrm>
            <a:off x="1416767" y="809867"/>
            <a:ext cx="9358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2" name="Google Shape;602;p5"/>
          <p:cNvSpPr txBox="1">
            <a:spLocks noGrp="1"/>
          </p:cNvSpPr>
          <p:nvPr>
            <p:ph type="body" idx="1"/>
          </p:nvPr>
        </p:nvSpPr>
        <p:spPr>
          <a:xfrm>
            <a:off x="1416767" y="1703664"/>
            <a:ext cx="9358400" cy="40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600" lvl="0" indent="-490855" rtl="0">
              <a:spcBef>
                <a:spcPts val="0"/>
              </a:spcBef>
              <a:spcAft>
                <a:spcPts val="0"/>
              </a:spcAft>
              <a:buSzPts val="2200"/>
              <a:buChar char="▸"/>
              <a:defRPr/>
            </a:lvl1pPr>
            <a:lvl2pPr marL="1219200" lvl="1" indent="-490855" rtl="0">
              <a:spcBef>
                <a:spcPts val="800"/>
              </a:spcBef>
              <a:spcAft>
                <a:spcPts val="0"/>
              </a:spcAft>
              <a:buSzPts val="2200"/>
              <a:buChar char="▸"/>
              <a:defRPr/>
            </a:lvl2pPr>
            <a:lvl3pPr marL="1828800" lvl="2" indent="-490855" rtl="0">
              <a:spcBef>
                <a:spcPts val="800"/>
              </a:spcBef>
              <a:spcAft>
                <a:spcPts val="0"/>
              </a:spcAft>
              <a:buSzPts val="2200"/>
              <a:buChar char="▸"/>
              <a:defRPr/>
            </a:lvl3pPr>
            <a:lvl4pPr marL="2438400" lvl="3" indent="-490855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4pPr>
            <a:lvl5pPr marL="3048000" lvl="4" indent="-490855" rtl="0">
              <a:spcBef>
                <a:spcPts val="800"/>
              </a:spcBef>
              <a:spcAft>
                <a:spcPts val="0"/>
              </a:spcAft>
              <a:buSzPts val="2200"/>
              <a:buChar char="○"/>
              <a:defRPr/>
            </a:lvl5pPr>
            <a:lvl6pPr marL="3657600" lvl="5" indent="-490855" rtl="0">
              <a:spcBef>
                <a:spcPts val="800"/>
              </a:spcBef>
              <a:spcAft>
                <a:spcPts val="0"/>
              </a:spcAft>
              <a:buSzPts val="2200"/>
              <a:buChar char="■"/>
              <a:defRPr/>
            </a:lvl6pPr>
            <a:lvl7pPr marL="4267200" lvl="6" indent="-490855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7pPr>
            <a:lvl8pPr marL="4876800" lvl="7" indent="-490855" rtl="0">
              <a:spcBef>
                <a:spcPts val="800"/>
              </a:spcBef>
              <a:spcAft>
                <a:spcPts val="0"/>
              </a:spcAft>
              <a:buSzPts val="2200"/>
              <a:buChar char="○"/>
              <a:defRPr/>
            </a:lvl8pPr>
            <a:lvl9pPr marL="5486400" lvl="8" indent="-490855" rtl="0">
              <a:spcBef>
                <a:spcPts val="800"/>
              </a:spcBef>
              <a:spcAft>
                <a:spcPts val="800"/>
              </a:spcAft>
              <a:buSzPts val="22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03" name="Google Shape;603;p5"/>
          <p:cNvSpPr txBox="1">
            <a:spLocks noGrp="1"/>
          </p:cNvSpPr>
          <p:nvPr>
            <p:ph type="sldNum" idx="12"/>
          </p:nvPr>
        </p:nvSpPr>
        <p:spPr>
          <a:xfrm>
            <a:off x="5730212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 thruBlk="1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/>
          <p:cNvSpPr/>
          <p:nvPr/>
        </p:nvSpPr>
        <p:spPr>
          <a:xfrm>
            <a:off x="1267662" y="502629"/>
            <a:ext cx="1142100" cy="10506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2608" y="364844"/>
            <a:ext cx="11618976" cy="527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800" b="1" dirty="0">
                <a:solidFill>
                  <a:srgbClr val="0D1E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KIT - Kalaignarkarunanidhi Institute of Technology</a:t>
            </a:r>
          </a:p>
          <a:p>
            <a:pPr lvl="0" algn="ctr">
              <a:lnSpc>
                <a:spcPct val="150000"/>
              </a:lnSpc>
            </a:pPr>
            <a:r>
              <a:rPr lang="en-US" sz="2800" b="1" dirty="0">
                <a:solidFill>
                  <a:srgbClr val="0D1E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(An Autonomous Institute)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D1E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Applications</a:t>
            </a:r>
          </a:p>
          <a:p>
            <a:r>
              <a:rPr lang="en-US" sz="2400" b="1" dirty="0">
                <a:solidFill>
                  <a:srgbClr val="0D1E1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</a:t>
            </a:r>
            <a:r>
              <a:rPr lang="en-US" sz="2800" b="1" dirty="0">
                <a:solidFill>
                  <a:srgbClr val="C00000"/>
                </a:solidFill>
                <a:latin typeface="Times" pitchFamily="18" charset="0"/>
              </a:rPr>
              <a:t> M23CAP302</a:t>
            </a:r>
            <a:r>
              <a:rPr lang="en-IN" sz="2800" b="1" dirty="0">
                <a:solidFill>
                  <a:srgbClr val="C00000"/>
                </a:solidFill>
                <a:latin typeface="Times" pitchFamily="18" charset="0"/>
              </a:rPr>
              <a:t> – </a:t>
            </a:r>
            <a:r>
              <a:rPr lang="en-US" sz="2800" b="1" dirty="0">
                <a:solidFill>
                  <a:srgbClr val="C00000"/>
                </a:solidFill>
                <a:latin typeface="Times" pitchFamily="18" charset="0"/>
              </a:rPr>
              <a:t>MINI PROJECT</a:t>
            </a:r>
          </a:p>
          <a:p>
            <a:pPr lvl="0" algn="ctr">
              <a:lnSpc>
                <a:spcPct val="115000"/>
              </a:lnSpc>
            </a:pPr>
            <a:r>
              <a:rPr lang="en-US" sz="2000" b="1" dirty="0">
                <a:solidFill>
                  <a:srgbClr val="0D1E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 0</a:t>
            </a:r>
          </a:p>
          <a:p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endParaRPr lang="en-IN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endParaRPr lang="en-IN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000" b="1" dirty="0">
                <a:latin typeface="Times New Roman" panose="02020603050405020304" charset="0"/>
                <a:cs typeface="Times New Roman" panose="02020603050405020304" charset="0"/>
              </a:rPr>
              <a:t>       GUIDED BY,                                                                           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PRESENTED BY,</a:t>
            </a:r>
            <a:endParaRPr lang="en-IN" sz="2000" dirty="0"/>
          </a:p>
          <a:p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                                                          </a:t>
            </a:r>
            <a:r>
              <a:rPr lang="en-US" sz="2000" dirty="0">
                <a:latin typeface="Times" pitchFamily="18" charset="0"/>
              </a:rPr>
              <a:t>AJAYANAND.K (711524MMC004),</a:t>
            </a:r>
          </a:p>
          <a:p>
            <a:r>
              <a:rPr lang="en-US" sz="2000" dirty="0">
                <a:latin typeface="Times" pitchFamily="18" charset="0"/>
              </a:rPr>
              <a:t>                                                                                                          VIVEK.S (711524MMC050),</a:t>
            </a:r>
          </a:p>
          <a:p>
            <a:r>
              <a:rPr lang="en-US" sz="2000" dirty="0">
                <a:latin typeface="Times" pitchFamily="18" charset="0"/>
              </a:rPr>
              <a:t>                                                                                                           DEPARTMENT OF MCA.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2218" y="4302137"/>
            <a:ext cx="54641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Mrs.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K.S.SHANTHINI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MCA.,(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Ph.D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).,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PROFESSOR,</a:t>
            </a:r>
          </a:p>
          <a:p>
            <a:r>
              <a:rPr lang="en-US" sz="2000" dirty="0">
                <a:latin typeface="Times" pitchFamily="18" charset="0"/>
              </a:rPr>
              <a:t>DEPARTMENT OF MCA.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0292" y="2828835"/>
            <a:ext cx="1146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Anomaly Detection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701" y="2053163"/>
            <a:ext cx="3633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PROPOSED TITLE:</a:t>
            </a:r>
            <a:endParaRPr lang="en-US" sz="2800" dirty="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023" y="469074"/>
            <a:ext cx="9358400" cy="842432"/>
          </a:xfrm>
        </p:spPr>
        <p:txBody>
          <a:bodyPr/>
          <a:lstStyle/>
          <a:p>
            <a:r>
              <a:rPr lang="en-US" sz="4400" b="1" dirty="0">
                <a:latin typeface="Rockwell" panose="02060603020205020403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ABSTRACT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25E7BF-4C77-852C-B5EE-4621087CE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023" y="1193012"/>
            <a:ext cx="11032577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face advanced and unknown cyber attacks that cannot be detected using traditional rule-based systems.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monitoring is essential to identify abnormal activities at an early stage.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real-time anomaly detection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network security.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learns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network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detects deviations indicating potential intrusions.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Flow-level features such as packet rate, connection duration, and traffic volume are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like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Forest, Autoencoder, and Random Forest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used.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does not rely on attack signatures, making it effective against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zero-day attacks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show improved detection accuracy with reduced false alarms.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scalable and suitable for real-time deployment in modern networks.</a:t>
            </a: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52" y="173502"/>
            <a:ext cx="11326368" cy="5913119"/>
          </a:xfrm>
        </p:spPr>
        <p:txBody>
          <a:bodyPr/>
          <a:lstStyle/>
          <a:p>
            <a:pPr marL="118745" indent="0">
              <a:buNone/>
            </a:pPr>
            <a:endParaRPr 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8745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EXISTING SYSTEM </a:t>
            </a:r>
          </a:p>
          <a:p>
            <a:pPr marL="118745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</a:t>
            </a:r>
          </a:p>
          <a:p>
            <a:pPr marL="118745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462EBB-0EB4-FBB6-02B3-957F171FC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275" y="771379"/>
            <a:ext cx="12112986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network monitoring and intrusion detection systems rely on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and signature-based techniques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is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thresholds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attack signatures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policies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require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configuration and frequent updates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network administrators.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is mainly focused on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attack patterns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previously identified threats.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Detect Unknown Attacks: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systems fail to identify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zero-day and novel attacks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Intelligence: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rules cannot adapt to dynamic and evolving network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 Rate: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thresholds often generate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miss subtle anomalies (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Maintenance: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rule updates increase administrative effort and risk of configuration errors.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degrades as network size and traffic volume increase.</a:t>
            </a: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721172"/>
            <a:ext cx="9722489" cy="632177"/>
          </a:xfrm>
        </p:spPr>
        <p:txBody>
          <a:bodyPr/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Rockwell" panose="02060603020205020403" pitchFamily="18" charset="0"/>
              </a:rPr>
              <a:t>     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br>
              <a:rPr lang="en-US" sz="2800" u="sng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4E21F6-5F69-8D83-A8D4-9AAE60231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1376" y="1437370"/>
            <a:ext cx="1157122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introduces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real-time network anomaly detection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on static rules, the system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normal network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historical traffic data.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Incoming network traffic is continuously monitored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Flow-level features such as packet rate, connection duration, traffic volume, and protocol usage are extracted.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Forest, Autoencoder, and Random Forest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detect anomalies.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identifies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traffic patterns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deviate from normal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capable of detecting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and zero-day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prior signatures.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are generated instantly when suspicious activity is detected.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adapts to changing network conditions with minimal manual intervention.</a:t>
            </a: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6C02-CE7A-A442-C817-E32717A9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1611FB-29ED-8946-3EAE-2E7FB56214F3}"/>
              </a:ext>
            </a:extLst>
          </p:cNvPr>
          <p:cNvSpPr/>
          <p:nvPr/>
        </p:nvSpPr>
        <p:spPr>
          <a:xfrm>
            <a:off x="580292" y="2828835"/>
            <a:ext cx="1146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 Network Traffic Classification for Encrypted Flows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B8A02-ED05-24AD-B081-6394D2FD6EE9}"/>
              </a:ext>
            </a:extLst>
          </p:cNvPr>
          <p:cNvSpPr txBox="1"/>
          <p:nvPr/>
        </p:nvSpPr>
        <p:spPr>
          <a:xfrm>
            <a:off x="972701" y="2053163"/>
            <a:ext cx="3633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PROPOSED TITLE: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83103056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DF38-2DC6-2788-0B74-70B6B572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5C71-30CD-F007-D8D3-A36AAB54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23" y="469074"/>
            <a:ext cx="9358400" cy="842432"/>
          </a:xfrm>
        </p:spPr>
        <p:txBody>
          <a:bodyPr/>
          <a:lstStyle/>
          <a:p>
            <a:r>
              <a:rPr lang="en-US" sz="4400" b="1" dirty="0">
                <a:latin typeface="Rockwell" panose="02060603020205020403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ABSTRACT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D65D68-4159-3432-3D8D-A5C2C9ADD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023" y="1057591"/>
            <a:ext cx="1103257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encrypted network traffic (HTTPS, TLS, VPN) limits traditional traffic analysis methods.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Packet Inspection cannot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encrypted payloads, reducing visibility into network traffic.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 based deep learning model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encrypted traffic classification.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flow-level features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payload information, ensuring privacy preservation.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extracts spatial patterns from packet sequences.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captures temporal dependencies in traffic flows.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packet size, inter-arrival time, and packet direction are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achieves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encrypted traffic.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outperforms traditional machine learning techniques.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real-time, intelligent network traffic classification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5550053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B82C-3B62-CA01-A05D-06DEA06C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01E83-19BE-9506-C482-45F3D39F4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816" y="37199"/>
            <a:ext cx="11326368" cy="5913119"/>
          </a:xfrm>
        </p:spPr>
        <p:txBody>
          <a:bodyPr/>
          <a:lstStyle/>
          <a:p>
            <a:pPr marL="118745" indent="0">
              <a:buNone/>
            </a:pPr>
            <a:endParaRPr 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8745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EXISTING SYSTEM </a:t>
            </a:r>
          </a:p>
          <a:p>
            <a:pPr marL="118745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</a:t>
            </a:r>
          </a:p>
          <a:p>
            <a:pPr marL="118745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66BFBDC-B214-9761-5092-29DD86F36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2" y="925267"/>
            <a:ext cx="1211298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network traffic classification relies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Packet Inspection (DPI)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payload content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applications and services.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and signature-based methods are commonly used for traffic identification.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machine learning approaches depend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feature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classification accuracy depends heavily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patterns and signatures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Ineffective for Encrypted Traffic: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encryption (HTTPS, TLS, VPN) prevents DPI from inspecting packet content.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Temporal Analysis: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models fail to capture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and time-dependent traffic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Feature Engineering: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domain expertise and is time-consuming.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Adaptability: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rules cannot adapt to new applications or evolving traffic patterns.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inspection may violate user privacy and security policies.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degrades significantly when payload information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299840490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6F22-3C02-2819-60E2-94B0AA69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221F-4D24-5389-FC50-AE63D12E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5527"/>
            <a:ext cx="9722489" cy="632177"/>
          </a:xfrm>
        </p:spPr>
        <p:txBody>
          <a:bodyPr/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Rockwell" panose="02060603020205020403" pitchFamily="18" charset="0"/>
              </a:rPr>
              <a:t>     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br>
              <a:rPr lang="en-US" sz="2800" u="sng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96415C-6A26-7E5D-DA18-544D9544C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1376" y="1437369"/>
            <a:ext cx="1157122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introduces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classifying encrypted network traffic.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the need for payload inspection and works entirely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flow-level traffic features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is captured and grouped into flows using standard 5-tuple information.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features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size, inter-arrival time, flow duration, and packet direction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extracted.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learn spatial patterns from packet sequences.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captures temporal dependencies and sequential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traffic flows.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CNN-LSTM model accurately classifies encrypted traffic into different application or traffic types.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adapts to evolving traffic patterns without manual rule updates.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results are generated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high accuracy and low false alarms.</a:t>
            </a:r>
          </a:p>
        </p:txBody>
      </p:sp>
    </p:spTree>
    <p:extLst>
      <p:ext uri="{BB962C8B-B14F-4D97-AF65-F5344CB8AC3E}">
        <p14:creationId xmlns:p14="http://schemas.microsoft.com/office/powerpoint/2010/main" val="3645827629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A9EE-B162-E071-F109-DD351C28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5E0615-802D-039B-0081-A50FD1B76AB4}"/>
              </a:ext>
            </a:extLst>
          </p:cNvPr>
          <p:cNvSpPr/>
          <p:nvPr/>
        </p:nvSpPr>
        <p:spPr>
          <a:xfrm>
            <a:off x="844062" y="2828835"/>
            <a:ext cx="111985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Learning-Based Intrusion Detection for Multi-Branch Networks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7DCFA-A0BF-A399-CFDD-F6631786EA1A}"/>
              </a:ext>
            </a:extLst>
          </p:cNvPr>
          <p:cNvSpPr txBox="1"/>
          <p:nvPr/>
        </p:nvSpPr>
        <p:spPr>
          <a:xfrm>
            <a:off x="972701" y="2053163"/>
            <a:ext cx="3633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PROPOSED TITLE: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45212423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A6C5-D378-087E-DDBF-4DF14FDE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7BB9-C06A-1F42-A667-E2E978B5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23" y="469074"/>
            <a:ext cx="9358400" cy="842432"/>
          </a:xfrm>
        </p:spPr>
        <p:txBody>
          <a:bodyPr/>
          <a:lstStyle/>
          <a:p>
            <a:r>
              <a:rPr lang="en-US" sz="4400" b="1" dirty="0">
                <a:latin typeface="Rockwell" panose="02060603020205020403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ABSTRACT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4627C-80EC-61AC-BDCC-00B386292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023" y="1226866"/>
            <a:ext cx="1103257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8745" indent="0">
              <a:lnSpc>
                <a:spcPct val="100000"/>
              </a:lnSpc>
              <a:buClr>
                <a:schemeClr val="tx1"/>
              </a:buClr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organizations face serious challenges in sharing network traffic data due to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 concerns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centralized intrusion detection systems require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sharing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data leakage risks and high bandwidth usage.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(FL)-based Intrusion Detection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multi-branch networks.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branch trains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intrusion detection model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its own network traffic data.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shared with a central server, not raw traffic data.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central server aggregates local models to create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intrusion detection model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preserves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high detection accuracy.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effectively detects known and unknown network attacks across distributed branches.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show improved scalability, reduced communication overhead, and better intrusion detection performance compared to centralized IDS.</a:t>
            </a:r>
          </a:p>
        </p:txBody>
      </p:sp>
    </p:spTree>
    <p:extLst>
      <p:ext uri="{BB962C8B-B14F-4D97-AF65-F5344CB8AC3E}">
        <p14:creationId xmlns:p14="http://schemas.microsoft.com/office/powerpoint/2010/main" val="3396407486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6F27-ED89-7869-9046-CD0C578A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7C241-2CC2-8F8D-2D18-DC0DBA9D3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816" y="37199"/>
            <a:ext cx="11326368" cy="5913119"/>
          </a:xfrm>
        </p:spPr>
        <p:txBody>
          <a:bodyPr/>
          <a:lstStyle/>
          <a:p>
            <a:pPr marL="118745" indent="0">
              <a:buNone/>
            </a:pPr>
            <a:endParaRPr 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8745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EXISTING SYSTEM </a:t>
            </a:r>
          </a:p>
          <a:p>
            <a:pPr marL="118745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</a:t>
            </a:r>
          </a:p>
          <a:p>
            <a:pPr marL="118745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D8249C-E246-3527-E3A2-917E7B2D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2" y="948349"/>
            <a:ext cx="12112986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intrusion detection systems (IDS) are mostly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nature.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data from all branches is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stored at a central server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is performed using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 conventional machine learning models trained on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datasets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rules and detection models require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updates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administrators.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Risks: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raw network traffic data between branches may violate data privacy and regulatory policies.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Communication Overhead: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large volumes of traffic data consumes bandwidth and increases latency.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Point of Failure: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IDS systems are vulnerable to failure or targeted attacks.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degrades as the number of branches and traffic volume increases.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Adaptability: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or centrally trained models cannot easily adapt to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traffic variations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different branches.</a:t>
            </a:r>
          </a:p>
        </p:txBody>
      </p:sp>
    </p:spTree>
    <p:extLst>
      <p:ext uri="{BB962C8B-B14F-4D97-AF65-F5344CB8AC3E}">
        <p14:creationId xmlns:p14="http://schemas.microsoft.com/office/powerpoint/2010/main" val="3503916801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9F10-4D48-4D18-0CFE-FBEDAB75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17E5-C42E-6B65-83A8-F0A7513B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5527"/>
            <a:ext cx="9722489" cy="632177"/>
          </a:xfrm>
        </p:spPr>
        <p:txBody>
          <a:bodyPr/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Rockwell" panose="02060603020205020403" pitchFamily="18" charset="0"/>
              </a:rPr>
              <a:t>     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br>
              <a:rPr lang="en-US" sz="2800" u="sng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02E5DE-2B42-B698-5155-DB71BFA5F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1376" y="1775923"/>
            <a:ext cx="1157122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introduces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(FL) based Intrusion Detection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multi-branch networks.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branch monitors its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network traffic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extracts flow-level features independently.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intrusion detection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trained at each branch using its own traffic data.</a:t>
            </a:r>
          </a:p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network data is never shared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branches, ensuring privacy preservation.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 or weight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transmitted to a central aggregation server.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server performs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aggregation (e.g.,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a global detection model.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updated global model is redistributed to all branches for improved detection.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adapts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traffic patterns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branches.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effectively detects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known, unknown, and zero-day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scalable, secure, and suitable for real-time deployment.</a:t>
            </a:r>
          </a:p>
        </p:txBody>
      </p:sp>
    </p:spTree>
    <p:extLst>
      <p:ext uri="{BB962C8B-B14F-4D97-AF65-F5344CB8AC3E}">
        <p14:creationId xmlns:p14="http://schemas.microsoft.com/office/powerpoint/2010/main" val="95211110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4991" y="2886526"/>
            <a:ext cx="62020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" indent="0" algn="ctr"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THANK YOU!</a:t>
            </a: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1909</TotalTime>
  <Words>1389</Words>
  <Application>Microsoft Macintosh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Gothic</vt:lpstr>
      <vt:lpstr>Corbel</vt:lpstr>
      <vt:lpstr>Rockwell</vt:lpstr>
      <vt:lpstr>Times</vt:lpstr>
      <vt:lpstr>Times New Roman</vt:lpstr>
      <vt:lpstr>Wingdings</vt:lpstr>
      <vt:lpstr>Basis</vt:lpstr>
      <vt:lpstr>PowerPoint Presentation</vt:lpstr>
      <vt:lpstr>PowerPoint Presentation</vt:lpstr>
      <vt:lpstr> ABSTRACT</vt:lpstr>
      <vt:lpstr>PowerPoint Presentation</vt:lpstr>
      <vt:lpstr>      PROPOSED SYSTEM </vt:lpstr>
      <vt:lpstr>PowerPoint Presentation</vt:lpstr>
      <vt:lpstr> ABSTRACT</vt:lpstr>
      <vt:lpstr>PowerPoint Presentation</vt:lpstr>
      <vt:lpstr>      PROPOSED SYSTEM </vt:lpstr>
      <vt:lpstr>PowerPoint Presentation</vt:lpstr>
      <vt:lpstr> ABSTRACT</vt:lpstr>
      <vt:lpstr>PowerPoint Presentation</vt:lpstr>
      <vt:lpstr>      PROPOSED SYSTEM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K.AJAY ANAND</cp:lastModifiedBy>
  <cp:revision>106</cp:revision>
  <dcterms:created xsi:type="dcterms:W3CDTF">2022-02-09T13:19:00Z</dcterms:created>
  <dcterms:modified xsi:type="dcterms:W3CDTF">2026-01-08T06:43:04Z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A1C0ED70EEAC46B492BDB35D683477AF_13</vt:lpwstr>
  </property>
  <property fmtid="{D5CDD505-2E9C-101B-9397-08002B2CF9AE}" pid="3" name="KSOProductBuildVer">
    <vt:lpwstr>1033-12.2.0.22549</vt:lpwstr>
  </property>
</Properties>
</file>