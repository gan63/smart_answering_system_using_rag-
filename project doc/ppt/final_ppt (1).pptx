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png" ContentType="image/pn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DF52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31647" y="243840"/>
            <a:ext cx="11724640" cy="6377940"/>
          </a:xfrm>
          <a:custGeom>
            <a:avLst/>
            <a:gdLst/>
            <a:ahLst/>
            <a:cxnLst/>
            <a:rect l="l" t="t" r="r" b="b"/>
            <a:pathLst>
              <a:path w="11724640" h="6377940">
                <a:moveTo>
                  <a:pt x="11724132" y="6377939"/>
                </a:moveTo>
                <a:lnTo>
                  <a:pt x="0" y="6377939"/>
                </a:lnTo>
                <a:lnTo>
                  <a:pt x="0" y="0"/>
                </a:lnTo>
                <a:lnTo>
                  <a:pt x="11724132" y="0"/>
                </a:lnTo>
                <a:lnTo>
                  <a:pt x="11724132" y="6377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6565" y="457009"/>
            <a:ext cx="4919980" cy="838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4321" y="1450124"/>
            <a:ext cx="8877935" cy="455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967" y="502919"/>
            <a:ext cx="1141476" cy="10500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71979" y="537311"/>
            <a:ext cx="794893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18639" marR="5080" indent="-1805939">
              <a:lnSpc>
                <a:spcPct val="150000"/>
              </a:lnSpc>
              <a:spcBef>
                <a:spcPts val="100"/>
              </a:spcBef>
            </a:pPr>
            <a:r>
              <a:rPr dirty="0">
                <a:solidFill>
                  <a:srgbClr val="0D1E1F"/>
                </a:solidFill>
              </a:rPr>
              <a:t>KIT</a:t>
            </a:r>
            <a:r>
              <a:rPr dirty="0" spc="-100">
                <a:solidFill>
                  <a:srgbClr val="0D1E1F"/>
                </a:solidFill>
              </a:rPr>
              <a:t> </a:t>
            </a:r>
            <a:r>
              <a:rPr dirty="0">
                <a:solidFill>
                  <a:srgbClr val="0D1E1F"/>
                </a:solidFill>
              </a:rPr>
              <a:t>-</a:t>
            </a:r>
            <a:r>
              <a:rPr dirty="0" spc="-60">
                <a:solidFill>
                  <a:srgbClr val="0D1E1F"/>
                </a:solidFill>
              </a:rPr>
              <a:t> </a:t>
            </a:r>
            <a:r>
              <a:rPr dirty="0" spc="-20">
                <a:solidFill>
                  <a:srgbClr val="0D1E1F"/>
                </a:solidFill>
              </a:rPr>
              <a:t>Kalaignarkarunanidhi</a:t>
            </a:r>
            <a:r>
              <a:rPr dirty="0" spc="-65">
                <a:solidFill>
                  <a:srgbClr val="0D1E1F"/>
                </a:solidFill>
              </a:rPr>
              <a:t> </a:t>
            </a:r>
            <a:r>
              <a:rPr dirty="0">
                <a:solidFill>
                  <a:srgbClr val="0D1E1F"/>
                </a:solidFill>
              </a:rPr>
              <a:t>Institute</a:t>
            </a:r>
            <a:r>
              <a:rPr dirty="0" spc="-55">
                <a:solidFill>
                  <a:srgbClr val="0D1E1F"/>
                </a:solidFill>
              </a:rPr>
              <a:t> </a:t>
            </a:r>
            <a:r>
              <a:rPr dirty="0">
                <a:solidFill>
                  <a:srgbClr val="0D1E1F"/>
                </a:solidFill>
              </a:rPr>
              <a:t>of</a:t>
            </a:r>
            <a:r>
              <a:rPr dirty="0" spc="-110">
                <a:solidFill>
                  <a:srgbClr val="0D1E1F"/>
                </a:solidFill>
              </a:rPr>
              <a:t> </a:t>
            </a:r>
            <a:r>
              <a:rPr dirty="0" spc="-10">
                <a:solidFill>
                  <a:srgbClr val="0D1E1F"/>
                </a:solidFill>
              </a:rPr>
              <a:t>Technology </a:t>
            </a:r>
            <a:r>
              <a:rPr dirty="0" spc="-40">
                <a:solidFill>
                  <a:srgbClr val="0D1E1F"/>
                </a:solidFill>
              </a:rPr>
              <a:t>(An</a:t>
            </a:r>
            <a:r>
              <a:rPr dirty="0" spc="-135">
                <a:solidFill>
                  <a:srgbClr val="0D1E1F"/>
                </a:solidFill>
              </a:rPr>
              <a:t> </a:t>
            </a:r>
            <a:r>
              <a:rPr dirty="0" spc="-20">
                <a:solidFill>
                  <a:srgbClr val="0D1E1F"/>
                </a:solidFill>
              </a:rPr>
              <a:t>Autonomous</a:t>
            </a:r>
            <a:r>
              <a:rPr dirty="0" spc="-100">
                <a:solidFill>
                  <a:srgbClr val="0D1E1F"/>
                </a:solidFill>
              </a:rPr>
              <a:t> </a:t>
            </a:r>
            <a:r>
              <a:rPr dirty="0" spc="-10">
                <a:solidFill>
                  <a:srgbClr val="0D1E1F"/>
                </a:solidFill>
              </a:rPr>
              <a:t>Institute)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154298" y="2025116"/>
            <a:ext cx="5827395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0" marR="5080" indent="-495300">
              <a:lnSpc>
                <a:spcPct val="107900"/>
              </a:lnSpc>
              <a:spcBef>
                <a:spcPts val="100"/>
              </a:spcBef>
            </a:pPr>
            <a:r>
              <a:rPr dirty="0" sz="2800" b="1">
                <a:solidFill>
                  <a:srgbClr val="0D1E1F"/>
                </a:solidFill>
                <a:latin typeface="Times New Roman"/>
                <a:cs typeface="Times New Roman"/>
              </a:rPr>
              <a:t>Department</a:t>
            </a:r>
            <a:r>
              <a:rPr dirty="0" sz="2800" spc="-100" b="1">
                <a:solidFill>
                  <a:srgbClr val="0D1E1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D1E1F"/>
                </a:solidFill>
                <a:latin typeface="Times New Roman"/>
                <a:cs typeface="Times New Roman"/>
              </a:rPr>
              <a:t>of</a:t>
            </a:r>
            <a:r>
              <a:rPr dirty="0" sz="2800" spc="-60" b="1">
                <a:solidFill>
                  <a:srgbClr val="0D1E1F"/>
                </a:solidFill>
                <a:latin typeface="Times New Roman"/>
                <a:cs typeface="Times New Roman"/>
              </a:rPr>
              <a:t> </a:t>
            </a:r>
            <a:r>
              <a:rPr dirty="0" sz="2800" spc="-40" b="1">
                <a:solidFill>
                  <a:srgbClr val="0D1E1F"/>
                </a:solidFill>
                <a:latin typeface="Times New Roman"/>
                <a:cs typeface="Times New Roman"/>
              </a:rPr>
              <a:t>Computer</a:t>
            </a:r>
            <a:r>
              <a:rPr dirty="0" sz="2800" spc="-229" b="1">
                <a:solidFill>
                  <a:srgbClr val="0D1E1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D1E1F"/>
                </a:solidFill>
                <a:latin typeface="Times New Roman"/>
                <a:cs typeface="Times New Roman"/>
              </a:rPr>
              <a:t>Applications </a:t>
            </a:r>
            <a:r>
              <a:rPr dirty="0" sz="2800" spc="-10" b="1">
                <a:solidFill>
                  <a:srgbClr val="C00000"/>
                </a:solidFill>
                <a:latin typeface="Times New Roman"/>
                <a:cs typeface="Times New Roman"/>
              </a:rPr>
              <a:t>M23CAP401–</a:t>
            </a:r>
            <a:r>
              <a:rPr dirty="0" sz="2800" spc="-9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C00000"/>
                </a:solidFill>
                <a:latin typeface="Times New Roman"/>
                <a:cs typeface="Times New Roman"/>
              </a:rPr>
              <a:t>PROJECT</a:t>
            </a:r>
            <a:r>
              <a:rPr dirty="0" sz="2800" spc="-17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C00000"/>
                </a:solidFill>
                <a:latin typeface="Times New Roman"/>
                <a:cs typeface="Times New Roman"/>
              </a:rPr>
              <a:t>WORK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4798" y="4232630"/>
            <a:ext cx="15049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 b="1">
                <a:latin typeface="Times New Roman"/>
                <a:cs typeface="Times New Roman"/>
              </a:rPr>
              <a:t>GUIDED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BY,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65998" y="4232630"/>
            <a:ext cx="20040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0" b="1">
                <a:latin typeface="Times New Roman"/>
                <a:cs typeface="Times New Roman"/>
              </a:rPr>
              <a:t>PRESENTED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BY,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02588" y="4949088"/>
            <a:ext cx="38220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Dr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60">
                <a:latin typeface="Times New Roman"/>
                <a:cs typeface="Times New Roman"/>
              </a:rPr>
              <a:t>.VIJAYAKUMAR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MCA.,Ph.D.,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2588" y="5254523"/>
            <a:ext cx="30607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69720" algn="l"/>
              </a:tabLst>
            </a:pPr>
            <a:r>
              <a:rPr dirty="0" sz="2000" spc="-10">
                <a:latin typeface="Times New Roman"/>
                <a:cs typeface="Times New Roman"/>
              </a:rPr>
              <a:t>ASSOCIATE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PROFESSOR,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23758" y="4950358"/>
            <a:ext cx="3272154" cy="635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8260" marR="5080" indent="-35560"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latin typeface="Times New Roman"/>
                <a:cs typeface="Times New Roman"/>
              </a:rPr>
              <a:t>GANESH.A(711524MMC010)</a:t>
            </a:r>
            <a:r>
              <a:rPr dirty="0" sz="2000" spc="-20">
                <a:latin typeface="Calibri"/>
                <a:cs typeface="Calibri"/>
              </a:rPr>
              <a:t>, </a:t>
            </a:r>
            <a:r>
              <a:rPr dirty="0" sz="2000" spc="-55">
                <a:latin typeface="Times New Roman"/>
                <a:cs typeface="Times New Roman"/>
              </a:rPr>
              <a:t>DEPARTMENT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MCA.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02588" y="5557418"/>
            <a:ext cx="28886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imes New Roman"/>
                <a:cs typeface="Times New Roman"/>
              </a:rPr>
              <a:t>HEAD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DEPARTMENT.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06588" y="2936087"/>
            <a:ext cx="948817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 b="1">
                <a:latin typeface="Times New Roman"/>
                <a:cs typeface="Times New Roman"/>
              </a:rPr>
              <a:t>Smart</a:t>
            </a:r>
            <a:r>
              <a:rPr dirty="0" sz="3000" spc="-190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Answering</a:t>
            </a:r>
            <a:r>
              <a:rPr dirty="0" sz="3000" spc="-130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System</a:t>
            </a:r>
            <a:r>
              <a:rPr dirty="0" sz="3000" spc="-75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using</a:t>
            </a:r>
            <a:endParaRPr sz="3000">
              <a:latin typeface="Times New Roman"/>
              <a:cs typeface="Times New Roman"/>
            </a:endParaRPr>
          </a:p>
          <a:p>
            <a:pPr marL="2870200">
              <a:lnSpc>
                <a:spcPct val="100000"/>
              </a:lnSpc>
            </a:pPr>
            <a:r>
              <a:rPr dirty="0" sz="3000" spc="-25" b="1">
                <a:latin typeface="Times New Roman"/>
                <a:cs typeface="Times New Roman"/>
              </a:rPr>
              <a:t>Retrieval-</a:t>
            </a:r>
            <a:r>
              <a:rPr dirty="0" sz="3000" b="1">
                <a:latin typeface="Times New Roman"/>
                <a:cs typeface="Times New Roman"/>
              </a:rPr>
              <a:t>Augmented</a:t>
            </a:r>
            <a:r>
              <a:rPr dirty="0" sz="3000" spc="-150" b="1">
                <a:latin typeface="Times New Roman"/>
                <a:cs typeface="Times New Roman"/>
              </a:rPr>
              <a:t> </a:t>
            </a:r>
            <a:r>
              <a:rPr dirty="0" sz="3000" b="1">
                <a:latin typeface="Times New Roman"/>
                <a:cs typeface="Times New Roman"/>
              </a:rPr>
              <a:t>Generation</a:t>
            </a:r>
            <a:r>
              <a:rPr dirty="0" sz="3000" spc="-150" b="1">
                <a:latin typeface="Times New Roman"/>
                <a:cs typeface="Times New Roman"/>
              </a:rPr>
              <a:t> </a:t>
            </a:r>
            <a:r>
              <a:rPr dirty="0" sz="3000" spc="-10" b="1">
                <a:latin typeface="Times New Roman"/>
                <a:cs typeface="Times New Roman"/>
              </a:rPr>
              <a:t>(RAG)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3752" y="1434439"/>
            <a:ext cx="337502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</a:rPr>
              <a:t>PROJECT</a:t>
            </a:r>
            <a:r>
              <a:rPr dirty="0" sz="3200" spc="-200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TITLE: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415" y="586651"/>
            <a:ext cx="1951989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1992" y="1250557"/>
            <a:ext cx="9563735" cy="4110354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502284" indent="-489584">
              <a:lnSpc>
                <a:spcPct val="100000"/>
              </a:lnSpc>
              <a:spcBef>
                <a:spcPts val="1019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Developed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Smart</a:t>
            </a:r>
            <a:r>
              <a:rPr dirty="0" sz="2000" spc="-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Answering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Retrieval-</a:t>
            </a:r>
            <a:r>
              <a:rPr dirty="0" sz="2000">
                <a:latin typeface="Times New Roman"/>
                <a:cs typeface="Times New Roman"/>
              </a:rPr>
              <a:t>Augmented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(RAG).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Understands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questions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natural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language.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Retrieves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relevant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uploaded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documents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before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answers.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Converts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documents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vectors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search.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Stores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vectors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vector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fast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retrieval.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Uses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open-</a:t>
            </a:r>
            <a:r>
              <a:rPr dirty="0" sz="2000">
                <a:latin typeface="Times New Roman"/>
                <a:cs typeface="Times New Roman"/>
              </a:rPr>
              <a:t>source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Large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Language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(LLM)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context-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responses.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Reduces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hallucination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grounding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answers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retrieved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documents.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Handles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large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volumes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efficiently.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Suitable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Researchers,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Developers,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Data</a:t>
            </a:r>
            <a:r>
              <a:rPr dirty="0" sz="2000" spc="-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Analysts,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Corporate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Professionals.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3997" y="1122540"/>
            <a:ext cx="9671685" cy="456755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502284" indent="-489584">
              <a:lnSpc>
                <a:spcPct val="100000"/>
              </a:lnSpc>
              <a:spcBef>
                <a:spcPts val="1019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Uses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25">
                <a:latin typeface="Times New Roman"/>
                <a:cs typeface="Times New Roman"/>
              </a:rPr>
              <a:t> keyword-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semantic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understanding.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Primarily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text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struggles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PDFs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effectively.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Stores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traditional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contextual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understanding.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Generates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answers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validating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possible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incorrect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responses.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Cannot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efficiently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handle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large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unstructured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scanned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documents.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Performance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decreases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size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increases.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Requires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rule-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extraction.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less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accurate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answers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multi-</a:t>
            </a:r>
            <a:r>
              <a:rPr dirty="0" sz="2000">
                <a:latin typeface="Times New Roman"/>
                <a:cs typeface="Times New Roman"/>
              </a:rPr>
              <a:t>part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queries.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suitable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intelligent</a:t>
            </a:r>
            <a:r>
              <a:rPr dirty="0" sz="2000" spc="-10">
                <a:latin typeface="Times New Roman"/>
                <a:cs typeface="Times New Roman"/>
              </a:rPr>
              <a:t> applications.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Does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utilize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modern</a:t>
            </a:r>
            <a:r>
              <a:rPr dirty="0" sz="2000" spc="-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techniques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multimodal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models.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6565" y="518159"/>
            <a:ext cx="3300729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EXISTING</a:t>
            </a:r>
            <a:r>
              <a:rPr dirty="0" spc="-130"/>
              <a:t> </a:t>
            </a:r>
            <a:r>
              <a:rPr dirty="0" spc="-10"/>
              <a:t>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8500" y="457009"/>
            <a:ext cx="349059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PROPOSED</a:t>
            </a:r>
            <a:r>
              <a:rPr dirty="0" spc="-16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2246" y="1255700"/>
            <a:ext cx="8276590" cy="456755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502284" indent="-489584">
              <a:lnSpc>
                <a:spcPct val="100000"/>
              </a:lnSpc>
              <a:spcBef>
                <a:spcPts val="1019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text,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PDFs,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scanned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documents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Supports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formats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adjusts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automatically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Uses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open-source</a:t>
            </a:r>
            <a:r>
              <a:rPr dirty="0" sz="2000" spc="-1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questions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Converts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vector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meaning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Stores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vector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database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quick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access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question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needed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Finds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most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relevant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question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Thinks</a:t>
            </a:r>
            <a:r>
              <a:rPr dirty="0" sz="2000" spc="-20">
                <a:latin typeface="Times New Roman"/>
                <a:cs typeface="Times New Roman"/>
              </a:rPr>
              <a:t> step-</a:t>
            </a:r>
            <a:r>
              <a:rPr dirty="0" sz="2000" spc="-15">
                <a:latin typeface="Times New Roman"/>
                <a:cs typeface="Times New Roman"/>
              </a:rPr>
              <a:t>by-</a:t>
            </a:r>
            <a:r>
              <a:rPr dirty="0" sz="2000">
                <a:latin typeface="Times New Roman"/>
                <a:cs typeface="Times New Roman"/>
              </a:rPr>
              <a:t>step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accurate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answers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Gives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clear,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explainable,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context-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responses</a:t>
            </a:r>
            <a:endParaRPr sz="20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2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502284" algn="l"/>
              </a:tabLst>
            </a:pPr>
            <a:r>
              <a:rPr dirty="0" sz="2000">
                <a:latin typeface="Times New Roman"/>
                <a:cs typeface="Times New Roman"/>
              </a:rPr>
              <a:t>Useful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chatbots,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document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analysis,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decision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making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1739" y="995680"/>
            <a:ext cx="438150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80"/>
              <a:t> </a:t>
            </a:r>
            <a:r>
              <a:rPr dirty="0" spc="-10"/>
              <a:t>SPECIFICATION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67460" y="1885061"/>
            <a:ext cx="3910329" cy="2724150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HARDWARE</a:t>
            </a:r>
            <a:endParaRPr sz="22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1135"/>
              </a:spcBef>
              <a:buClr>
                <a:srgbClr val="DF5227"/>
              </a:buClr>
              <a:buSzPct val="75000"/>
              <a:buFont typeface="Wingdings"/>
              <a:buChar char=""/>
              <a:tabLst>
                <a:tab pos="194310" algn="l"/>
              </a:tabLst>
            </a:pPr>
            <a:r>
              <a:rPr dirty="0" sz="2200">
                <a:latin typeface="Times New Roman"/>
                <a:cs typeface="Times New Roman"/>
              </a:rPr>
              <a:t>Processor: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Intel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Core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i5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higher</a:t>
            </a:r>
            <a:endParaRPr sz="22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1135"/>
              </a:spcBef>
              <a:buClr>
                <a:srgbClr val="DF5227"/>
              </a:buClr>
              <a:buSzPct val="75000"/>
              <a:buFont typeface="Wingdings"/>
              <a:buChar char=""/>
              <a:tabLst>
                <a:tab pos="194310" algn="l"/>
              </a:tabLst>
            </a:pPr>
            <a:r>
              <a:rPr dirty="0" sz="2200">
                <a:latin typeface="Times New Roman"/>
                <a:cs typeface="Times New Roman"/>
              </a:rPr>
              <a:t>RAM: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Minimum:16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GB</a:t>
            </a:r>
            <a:endParaRPr sz="2200">
              <a:latin typeface="Times New Roman"/>
              <a:cs typeface="Times New Roman"/>
            </a:endParaRPr>
          </a:p>
          <a:p>
            <a:pPr marL="195580" marR="598170" indent="-182880">
              <a:lnSpc>
                <a:spcPts val="2360"/>
              </a:lnSpc>
              <a:spcBef>
                <a:spcPts val="1540"/>
              </a:spcBef>
              <a:buSzPct val="75000"/>
              <a:buFont typeface="Wingdings"/>
              <a:buChar char=""/>
              <a:tabLst>
                <a:tab pos="195580" algn="l"/>
                <a:tab pos="264160" algn="l"/>
              </a:tabLst>
            </a:pPr>
            <a:r>
              <a:rPr dirty="0" sz="2200">
                <a:solidFill>
                  <a:srgbClr val="DF5227"/>
                </a:solidFill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Storage: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Minimum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512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GB </a:t>
            </a:r>
            <a:r>
              <a:rPr dirty="0" sz="2200" spc="-10">
                <a:latin typeface="Times New Roman"/>
                <a:cs typeface="Times New Roman"/>
              </a:rPr>
              <a:t>HDD/SSD</a:t>
            </a:r>
            <a:endParaRPr sz="22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1025"/>
              </a:spcBef>
              <a:buClr>
                <a:srgbClr val="DF5227"/>
              </a:buClr>
              <a:buSzPct val="75000"/>
              <a:buFont typeface="Wingdings"/>
              <a:buChar char=""/>
              <a:tabLst>
                <a:tab pos="194310" algn="l"/>
              </a:tabLst>
            </a:pPr>
            <a:r>
              <a:rPr dirty="0" sz="2200" spc="-10">
                <a:latin typeface="Times New Roman"/>
                <a:cs typeface="Times New Roman"/>
              </a:rPr>
              <a:t>System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Type: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64-</a:t>
            </a:r>
            <a:r>
              <a:rPr dirty="0" sz="2200">
                <a:latin typeface="Times New Roman"/>
                <a:cs typeface="Times New Roman"/>
              </a:rPr>
              <a:t>bit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computer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91440" y="1874901"/>
            <a:ext cx="4370705" cy="333756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315"/>
              </a:spcBef>
            </a:pP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SOFTWARE</a:t>
            </a:r>
            <a:endParaRPr sz="2200">
              <a:latin typeface="Times New Roman"/>
              <a:cs typeface="Times New Roman"/>
            </a:endParaRPr>
          </a:p>
          <a:p>
            <a:pPr marL="195580" marR="572770" indent="-182880">
              <a:lnSpc>
                <a:spcPts val="2380"/>
              </a:lnSpc>
              <a:spcBef>
                <a:spcPts val="1510"/>
              </a:spcBef>
              <a:buClr>
                <a:srgbClr val="DF5227"/>
              </a:buClr>
              <a:buSzPct val="75000"/>
              <a:buFont typeface="Wingdings"/>
              <a:buChar char=""/>
              <a:tabLst>
                <a:tab pos="195580" algn="l"/>
              </a:tabLst>
            </a:pPr>
            <a:r>
              <a:rPr dirty="0" sz="2200" spc="-10">
                <a:latin typeface="Times New Roman"/>
                <a:cs typeface="Times New Roman"/>
              </a:rPr>
              <a:t>Operating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System: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Windows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11, </a:t>
            </a:r>
            <a:r>
              <a:rPr dirty="0" sz="2200">
                <a:latin typeface="Times New Roman"/>
                <a:cs typeface="Times New Roman"/>
              </a:rPr>
              <a:t>Linux,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macOS</a:t>
            </a:r>
            <a:endParaRPr sz="2200">
              <a:latin typeface="Times New Roman"/>
              <a:cs typeface="Times New Roman"/>
            </a:endParaRPr>
          </a:p>
          <a:p>
            <a:pPr marL="195580" marR="5080" indent="-182880">
              <a:lnSpc>
                <a:spcPts val="2380"/>
              </a:lnSpc>
              <a:spcBef>
                <a:spcPts val="1390"/>
              </a:spcBef>
              <a:buClr>
                <a:srgbClr val="DF5227"/>
              </a:buClr>
              <a:buSzPct val="75000"/>
              <a:buFont typeface="Wingdings"/>
              <a:buChar char=""/>
              <a:tabLst>
                <a:tab pos="195580" algn="l"/>
              </a:tabLst>
            </a:pPr>
            <a:r>
              <a:rPr dirty="0" sz="2200" spc="-10">
                <a:latin typeface="Times New Roman"/>
                <a:cs typeface="Times New Roman"/>
              </a:rPr>
              <a:t>Programming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Language: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Python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3.10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above</a:t>
            </a:r>
            <a:endParaRPr sz="2200">
              <a:latin typeface="Times New Roman"/>
              <a:cs typeface="Times New Roman"/>
            </a:endParaRPr>
          </a:p>
          <a:p>
            <a:pPr marL="195580" marR="262255" indent="-182880">
              <a:lnSpc>
                <a:spcPts val="2380"/>
              </a:lnSpc>
              <a:spcBef>
                <a:spcPts val="1390"/>
              </a:spcBef>
              <a:buClr>
                <a:srgbClr val="DF5227"/>
              </a:buClr>
              <a:buSzPct val="75000"/>
              <a:buFont typeface="Wingdings"/>
              <a:buChar char=""/>
              <a:tabLst>
                <a:tab pos="195580" algn="l"/>
              </a:tabLst>
            </a:pPr>
            <a:r>
              <a:rPr dirty="0" sz="2200" spc="-20">
                <a:latin typeface="Times New Roman"/>
                <a:cs typeface="Times New Roman"/>
              </a:rPr>
              <a:t>Database:MYSQL,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Chroma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Vector Database</a:t>
            </a:r>
            <a:endParaRPr sz="2200">
              <a:latin typeface="Times New Roman"/>
              <a:cs typeface="Times New Roman"/>
            </a:endParaRPr>
          </a:p>
          <a:p>
            <a:pPr marL="194945" indent="-181610">
              <a:lnSpc>
                <a:spcPct val="100000"/>
              </a:lnSpc>
              <a:spcBef>
                <a:spcPts val="1015"/>
              </a:spcBef>
              <a:buClr>
                <a:srgbClr val="DF5227"/>
              </a:buClr>
              <a:buSzPct val="75000"/>
              <a:buFont typeface="Wingdings"/>
              <a:buChar char=""/>
              <a:tabLst>
                <a:tab pos="194945" algn="l"/>
              </a:tabLst>
            </a:pPr>
            <a:r>
              <a:rPr dirty="0" sz="2200" spc="-30">
                <a:latin typeface="Times New Roman"/>
                <a:cs typeface="Times New Roman"/>
              </a:rPr>
              <a:t>Tools: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Code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4319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B64724"/>
                </a:solidFill>
              </a:rPr>
              <a:t>SYSTEM</a:t>
            </a:r>
            <a:r>
              <a:rPr dirty="0" spc="-80">
                <a:solidFill>
                  <a:srgbClr val="B64724"/>
                </a:solidFill>
              </a:rPr>
              <a:t> </a:t>
            </a:r>
            <a:r>
              <a:rPr dirty="0" spc="-10">
                <a:solidFill>
                  <a:srgbClr val="B64724"/>
                </a:solidFill>
              </a:rPr>
              <a:t>MODULES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21917" y="1641297"/>
            <a:ext cx="5972810" cy="3547745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502284" indent="-489584">
              <a:lnSpc>
                <a:spcPct val="100000"/>
              </a:lnSpc>
              <a:spcBef>
                <a:spcPts val="1435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1-</a:t>
            </a:r>
            <a:r>
              <a:rPr dirty="0" sz="2200">
                <a:latin typeface="Times New Roman"/>
                <a:cs typeface="Times New Roman"/>
              </a:rPr>
              <a:t>Login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page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35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  <a:tab pos="3512185" algn="l"/>
              </a:tabLst>
            </a:pP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2-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Interface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05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3-</a:t>
            </a:r>
            <a:r>
              <a:rPr dirty="0" sz="2200">
                <a:latin typeface="Times New Roman"/>
                <a:cs typeface="Times New Roman"/>
              </a:rPr>
              <a:t>Query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Input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&amp;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Preprocessing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4-</a:t>
            </a:r>
            <a:r>
              <a:rPr dirty="0" sz="2200" spc="-10">
                <a:latin typeface="Times New Roman"/>
                <a:cs typeface="Times New Roman"/>
              </a:rPr>
              <a:t>Embedding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Generation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5-</a:t>
            </a:r>
            <a:r>
              <a:rPr dirty="0" sz="2200" spc="-10">
                <a:latin typeface="Times New Roman"/>
                <a:cs typeface="Times New Roman"/>
              </a:rPr>
              <a:t>Information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Retrieval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6-</a:t>
            </a:r>
            <a:r>
              <a:rPr dirty="0" sz="2200">
                <a:latin typeface="Times New Roman"/>
                <a:cs typeface="Times New Roman"/>
              </a:rPr>
              <a:t>Responses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Generation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Modules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7-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114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195" y="720966"/>
            <a:ext cx="296100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dirty="0" spc="-90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91540" y="1262138"/>
            <a:ext cx="8727440" cy="449580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Modules</a:t>
            </a:r>
            <a:r>
              <a:rPr dirty="0" sz="2200" spc="-10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Times New Roman"/>
                <a:cs typeface="Times New Roman"/>
              </a:rPr>
              <a:t>1-</a:t>
            </a: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Login</a:t>
            </a:r>
            <a:r>
              <a:rPr dirty="0" sz="2200" spc="-10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Page</a:t>
            </a:r>
            <a:r>
              <a:rPr dirty="0" sz="2200" spc="-10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10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 spc="-10">
                <a:latin typeface="Times New Roman"/>
                <a:cs typeface="Times New Roman"/>
              </a:rPr>
              <a:t>Authenticates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securely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access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35">
                <a:latin typeface="Times New Roman"/>
                <a:cs typeface="Times New Roman"/>
              </a:rPr>
              <a:t>Smart</a:t>
            </a:r>
            <a:r>
              <a:rPr dirty="0" sz="2200" spc="-1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Answering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Stores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login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details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MySQL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enables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controlled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usage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  <a:tabLst>
                <a:tab pos="3187065" algn="l"/>
              </a:tabLst>
            </a:pP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Modules</a:t>
            </a:r>
            <a:r>
              <a:rPr dirty="0" sz="2200" spc="-11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Times New Roman"/>
                <a:cs typeface="Times New Roman"/>
              </a:rPr>
              <a:t>2-</a:t>
            </a: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User</a:t>
            </a:r>
            <a:r>
              <a:rPr dirty="0" sz="2200" spc="-14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Interface</a:t>
            </a: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05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 spc="-10">
                <a:latin typeface="Times New Roman"/>
                <a:cs typeface="Times New Roman"/>
              </a:rPr>
              <a:t>Provides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interface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enter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queries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35">
                <a:latin typeface="Times New Roman"/>
                <a:cs typeface="Times New Roman"/>
              </a:rPr>
              <a:t>view</a:t>
            </a:r>
            <a:r>
              <a:rPr dirty="0" sz="2200" spc="-145">
                <a:latin typeface="Times New Roman"/>
                <a:cs typeface="Times New Roman"/>
              </a:rPr>
              <a:t> </a:t>
            </a:r>
            <a:r>
              <a:rPr dirty="0" sz="2200" spc="-40">
                <a:latin typeface="Times New Roman"/>
                <a:cs typeface="Times New Roman"/>
              </a:rPr>
              <a:t>AI-</a:t>
            </a:r>
            <a:r>
              <a:rPr dirty="0" sz="2200">
                <a:latin typeface="Times New Roman"/>
                <a:cs typeface="Times New Roman"/>
              </a:rPr>
              <a:t>generated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answers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Displays</a:t>
            </a:r>
            <a:r>
              <a:rPr dirty="0" sz="2200" spc="-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previous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queries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responses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easy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reference.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Modules</a:t>
            </a:r>
            <a:r>
              <a:rPr dirty="0" sz="2200" spc="-7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dirty="0" sz="2200" spc="-7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Times New Roman"/>
                <a:cs typeface="Times New Roman"/>
              </a:rPr>
              <a:t>-</a:t>
            </a: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Query</a:t>
            </a:r>
            <a:r>
              <a:rPr dirty="0" sz="2200" spc="-7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Input</a:t>
            </a:r>
            <a:r>
              <a:rPr dirty="0" sz="2200" spc="-7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C00000"/>
                </a:solidFill>
                <a:latin typeface="Times New Roman"/>
                <a:cs typeface="Times New Roman"/>
              </a:rPr>
              <a:t>&amp;</a:t>
            </a:r>
            <a:r>
              <a:rPr dirty="0" sz="2200" spc="-6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Times New Roman"/>
                <a:cs typeface="Times New Roman"/>
              </a:rPr>
              <a:t>Preprocessing</a:t>
            </a:r>
            <a:r>
              <a:rPr dirty="0" sz="2200" spc="-8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Processes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queries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by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cleaning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structuring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input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text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Prepares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queries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embedding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improve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RAG-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retrieval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accuracy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1446" y="688073"/>
            <a:ext cx="8733790" cy="153416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Modules</a:t>
            </a:r>
            <a:r>
              <a:rPr dirty="0" sz="2200" spc="-9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Times New Roman"/>
                <a:cs typeface="Times New Roman"/>
              </a:rPr>
              <a:t>4-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Embedding</a:t>
            </a:r>
            <a:r>
              <a:rPr dirty="0" sz="2200" spc="-9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Generation</a:t>
            </a:r>
            <a:r>
              <a:rPr dirty="0" sz="2200" spc="-9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Analyzes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intent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rewrites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complex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unclear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queries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if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necessary</a:t>
            </a:r>
            <a:r>
              <a:rPr dirty="0" sz="2200" spc="-10">
                <a:solidFill>
                  <a:srgbClr val="DF5227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572135" indent="-559435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72135" algn="l"/>
              </a:tabLst>
            </a:pPr>
            <a:r>
              <a:rPr dirty="0" sz="2200">
                <a:latin typeface="Times New Roman"/>
                <a:cs typeface="Times New Roman"/>
              </a:rPr>
              <a:t>Plans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intelligent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retrieval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steps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improve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answer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accuracy.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097361" y="2868282"/>
            <a:ext cx="65595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Times New Roman"/>
                <a:cs typeface="Times New Roman"/>
              </a:rPr>
              <a:t>based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065486" y="2842120"/>
            <a:ext cx="839469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Times New Roman"/>
                <a:cs typeface="Times New Roman"/>
              </a:rPr>
              <a:t>context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1446" y="2222868"/>
            <a:ext cx="9271635" cy="1480185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Moduels</a:t>
            </a:r>
            <a:r>
              <a:rPr dirty="0" sz="2200" spc="-8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Times New Roman"/>
                <a:cs typeface="Times New Roman"/>
              </a:rPr>
              <a:t>5-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Information</a:t>
            </a:r>
            <a:r>
              <a:rPr dirty="0" sz="2200" spc="-8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Retrieval</a:t>
            </a:r>
            <a:r>
              <a:rPr dirty="0" sz="2200" spc="-7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3555" marR="5080" indent="-490855">
              <a:lnSpc>
                <a:spcPts val="3940"/>
              </a:lnSpc>
              <a:buFont typeface="Wingdings"/>
              <a:buChar char=""/>
              <a:tabLst>
                <a:tab pos="503555" algn="l"/>
                <a:tab pos="572135" algn="l"/>
              </a:tabLst>
            </a:pPr>
            <a:r>
              <a:rPr dirty="0" sz="2200">
                <a:solidFill>
                  <a:srgbClr val="DF5227"/>
                </a:solidFill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Combines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retrieved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information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generate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structured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 spc="-10">
                <a:latin typeface="Times New Roman"/>
                <a:cs typeface="Times New Roman"/>
              </a:rPr>
              <a:t>responses.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1446" y="3705593"/>
            <a:ext cx="9918065" cy="203708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502284" indent="-489584">
              <a:lnSpc>
                <a:spcPct val="100000"/>
              </a:lnSpc>
              <a:spcBef>
                <a:spcPts val="14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Ensures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answers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meaningful,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accurate,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grounded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uploaded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documents.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Modules</a:t>
            </a:r>
            <a:r>
              <a:rPr dirty="0" sz="2200" spc="-8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Times New Roman"/>
                <a:cs typeface="Times New Roman"/>
              </a:rPr>
              <a:t>6-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Response</a:t>
            </a:r>
            <a:r>
              <a:rPr dirty="0" sz="2200" spc="-8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Generation</a:t>
            </a:r>
            <a:r>
              <a:rPr dirty="0" sz="2200" spc="-75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Generates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accurate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answers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LLM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retrieved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context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Combines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+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documents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produce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context-</a:t>
            </a:r>
            <a:r>
              <a:rPr dirty="0" sz="2200">
                <a:latin typeface="Times New Roman"/>
                <a:cs typeface="Times New Roman"/>
              </a:rPr>
              <a:t>aware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responses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(RAG)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1669" y="1705991"/>
            <a:ext cx="8413750" cy="153416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Modules</a:t>
            </a:r>
            <a:r>
              <a:rPr dirty="0" sz="2200" spc="-7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Times New Roman"/>
                <a:cs typeface="Times New Roman"/>
              </a:rPr>
              <a:t>7-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Database</a:t>
            </a:r>
            <a:r>
              <a:rPr dirty="0" sz="2200" spc="-7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Times New Roman"/>
                <a:cs typeface="Times New Roman"/>
              </a:rPr>
              <a:t>Module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Stores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user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data,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documents,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embeddings,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responses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Supports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fast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retrieval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efficient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management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RAG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pipeline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6224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MODELS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9444" y="1526286"/>
            <a:ext cx="7628890" cy="455168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1420"/>
              </a:spcBef>
            </a:pP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Llama</a:t>
            </a:r>
            <a:r>
              <a:rPr dirty="0" sz="2200" spc="-9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3.1</a:t>
            </a:r>
            <a:r>
              <a:rPr dirty="0" sz="2200" spc="-8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8B</a:t>
            </a:r>
            <a:r>
              <a:rPr dirty="0" sz="2200" spc="-8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(Large</a:t>
            </a:r>
            <a:r>
              <a:rPr dirty="0" sz="2200" spc="-9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Language</a:t>
            </a:r>
            <a:r>
              <a:rPr dirty="0" sz="2200" spc="-8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Model)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Used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text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understanding,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reasoning,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response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generation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Powers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RAG-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chat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intelligent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answer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synthesis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Qwen</a:t>
            </a:r>
            <a:r>
              <a:rPr dirty="0" sz="2200" spc="-95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2.5</a:t>
            </a:r>
            <a:r>
              <a:rPr dirty="0" sz="2200" spc="-95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20" b="1">
                <a:solidFill>
                  <a:srgbClr val="B02400"/>
                </a:solidFill>
                <a:latin typeface="Times New Roman"/>
                <a:cs typeface="Times New Roman"/>
              </a:rPr>
              <a:t>VL</a:t>
            </a:r>
            <a:r>
              <a:rPr dirty="0" sz="2200" spc="-135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40" b="1">
                <a:solidFill>
                  <a:srgbClr val="B02400"/>
                </a:solidFill>
                <a:latin typeface="Times New Roman"/>
                <a:cs typeface="Times New Roman"/>
              </a:rPr>
              <a:t>(Vision-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Language</a:t>
            </a:r>
            <a:r>
              <a:rPr dirty="0" sz="2200" spc="-55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Model)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Processes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analyzes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along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text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 spc="-10">
                <a:latin typeface="Times New Roman"/>
                <a:cs typeface="Times New Roman"/>
              </a:rPr>
              <a:t>Provides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visual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context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understanding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multimodal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queries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spc="-25" b="1">
                <a:solidFill>
                  <a:srgbClr val="B02400"/>
                </a:solidFill>
                <a:latin typeface="Times New Roman"/>
                <a:cs typeface="Times New Roman"/>
              </a:rPr>
              <a:t>all-</a:t>
            </a:r>
            <a:r>
              <a:rPr dirty="0" sz="2200" spc="-40" b="1">
                <a:solidFill>
                  <a:srgbClr val="B02400"/>
                </a:solidFill>
                <a:latin typeface="Times New Roman"/>
                <a:cs typeface="Times New Roman"/>
              </a:rPr>
              <a:t>MiniLM-</a:t>
            </a:r>
            <a:r>
              <a:rPr dirty="0" sz="2200" spc="-25" b="1">
                <a:solidFill>
                  <a:srgbClr val="B02400"/>
                </a:solidFill>
                <a:latin typeface="Times New Roman"/>
                <a:cs typeface="Times New Roman"/>
              </a:rPr>
              <a:t>L6-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v2</a:t>
            </a:r>
            <a:r>
              <a:rPr dirty="0" sz="2200" spc="-2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(Embedding</a:t>
            </a:r>
            <a:r>
              <a:rPr dirty="0" sz="2200" spc="-15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Model)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Converts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text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vector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representations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Enables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fast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accurate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semantic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search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database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2806" y="1629752"/>
            <a:ext cx="6189980" cy="153416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 spc="-20" b="1">
                <a:solidFill>
                  <a:srgbClr val="B02400"/>
                </a:solidFill>
                <a:latin typeface="Times New Roman"/>
                <a:cs typeface="Times New Roman"/>
              </a:rPr>
              <a:t>CLIP</a:t>
            </a:r>
            <a:r>
              <a:rPr dirty="0" sz="2200" spc="-175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0" b="1">
                <a:solidFill>
                  <a:srgbClr val="B02400"/>
                </a:solidFill>
                <a:latin typeface="Times New Roman"/>
                <a:cs typeface="Times New Roman"/>
              </a:rPr>
              <a:t>ViT-</a:t>
            </a:r>
            <a:r>
              <a:rPr dirty="0" sz="2200" b="1">
                <a:solidFill>
                  <a:srgbClr val="B02400"/>
                </a:solidFill>
                <a:latin typeface="Times New Roman"/>
                <a:cs typeface="Times New Roman"/>
              </a:rPr>
              <a:t>B/32</a:t>
            </a:r>
            <a:r>
              <a:rPr dirty="0" sz="2200" spc="-9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(Multimodal</a:t>
            </a:r>
            <a:r>
              <a:rPr dirty="0" sz="2200" spc="-5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Embedding</a:t>
            </a:r>
            <a:r>
              <a:rPr dirty="0" sz="2200" spc="-40" b="1">
                <a:solidFill>
                  <a:srgbClr val="B024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02400"/>
                </a:solidFill>
                <a:latin typeface="Times New Roman"/>
                <a:cs typeface="Times New Roman"/>
              </a:rPr>
              <a:t>Model)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Encodes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text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shared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vector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space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>
                <a:latin typeface="Times New Roman"/>
                <a:cs typeface="Times New Roman"/>
              </a:rPr>
              <a:t>Supports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search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cross-</a:t>
            </a:r>
            <a:r>
              <a:rPr dirty="0" sz="2200">
                <a:latin typeface="Times New Roman"/>
                <a:cs typeface="Times New Roman"/>
              </a:rPr>
              <a:t>modal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retrieval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9415" rIns="0" bIns="0" rtlCol="0" vert="horz">
            <a:spAutoFit/>
          </a:bodyPr>
          <a:lstStyle/>
          <a:p>
            <a:pPr marL="960119">
              <a:lnSpc>
                <a:spcPct val="100000"/>
              </a:lnSpc>
              <a:spcBef>
                <a:spcPts val="95"/>
              </a:spcBef>
            </a:pPr>
            <a:r>
              <a:rPr dirty="0" spc="-110"/>
              <a:t>DATA</a:t>
            </a:r>
            <a:r>
              <a:rPr dirty="0" spc="-275"/>
              <a:t> </a:t>
            </a:r>
            <a:r>
              <a:rPr dirty="0"/>
              <a:t>FLOW</a:t>
            </a:r>
            <a:r>
              <a:rPr dirty="0" spc="-135"/>
              <a:t> </a:t>
            </a:r>
            <a:r>
              <a:rPr dirty="0" spc="-10"/>
              <a:t>DIAGRAM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9072" y="1827276"/>
            <a:ext cx="7842504" cy="37932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939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35"/>
              <a:t> </a:t>
            </a:r>
            <a:r>
              <a:rPr dirty="0" spc="-10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91743" y="1332902"/>
            <a:ext cx="8707755" cy="489712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502284" indent="-489584">
              <a:lnSpc>
                <a:spcPct val="100000"/>
              </a:lnSpc>
              <a:spcBef>
                <a:spcPts val="14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 spc="-25">
                <a:latin typeface="Times New Roman"/>
                <a:cs typeface="Times New Roman"/>
              </a:rPr>
              <a:t>Testing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phase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ensures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reliability,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accuracy,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performance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2200" spc="-40">
                <a:latin typeface="Times New Roman"/>
                <a:cs typeface="Times New Roman"/>
              </a:rPr>
              <a:t>Validates</a:t>
            </a:r>
            <a:r>
              <a:rPr dirty="0" sz="2200" spc="-1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functionality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identifies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errors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before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deployment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spc="-35" b="1">
                <a:latin typeface="Times New Roman"/>
                <a:cs typeface="Times New Roman"/>
              </a:rPr>
              <a:t>Testing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Types:</a:t>
            </a:r>
            <a:endParaRPr sz="2200">
              <a:latin typeface="Times New Roman"/>
              <a:cs typeface="Times New Roman"/>
            </a:endParaRPr>
          </a:p>
          <a:p>
            <a:pPr lvl="1" marL="1111885" indent="-489584">
              <a:lnSpc>
                <a:spcPct val="100000"/>
              </a:lnSpc>
              <a:spcBef>
                <a:spcPts val="2039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1111885" algn="l"/>
              </a:tabLst>
            </a:pPr>
            <a:r>
              <a:rPr dirty="0" sz="2000" b="1">
                <a:latin typeface="Times New Roman"/>
                <a:cs typeface="Times New Roman"/>
              </a:rPr>
              <a:t>Unit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spc="-35" b="1">
                <a:latin typeface="Times New Roman"/>
                <a:cs typeface="Times New Roman"/>
              </a:rPr>
              <a:t>Testing:</a:t>
            </a:r>
            <a:r>
              <a:rPr dirty="0" sz="2000" spc="-105" b="1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Tests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individual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modules</a:t>
            </a:r>
            <a:endParaRPr sz="2000">
              <a:latin typeface="Times New Roman"/>
              <a:cs typeface="Times New Roman"/>
            </a:endParaRPr>
          </a:p>
          <a:p>
            <a:pPr lvl="1" marL="1111885" indent="-489584">
              <a:lnSpc>
                <a:spcPct val="100000"/>
              </a:lnSpc>
              <a:spcBef>
                <a:spcPts val="20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111188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Integration</a:t>
            </a:r>
            <a:r>
              <a:rPr dirty="0" sz="2000" spc="-10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Testing: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together</a:t>
            </a:r>
            <a:endParaRPr sz="2000">
              <a:latin typeface="Times New Roman"/>
              <a:cs typeface="Times New Roman"/>
            </a:endParaRPr>
          </a:p>
          <a:p>
            <a:pPr lvl="1" marL="1111885" indent="-489584">
              <a:lnSpc>
                <a:spcPct val="100000"/>
              </a:lnSpc>
              <a:spcBef>
                <a:spcPts val="20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111188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Functional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spc="-30" b="1">
                <a:latin typeface="Times New Roman"/>
                <a:cs typeface="Times New Roman"/>
              </a:rPr>
              <a:t>Testing:</a:t>
            </a:r>
            <a:r>
              <a:rPr dirty="0" sz="2000" spc="-100" b="1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Verifies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functions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expected</a:t>
            </a:r>
            <a:endParaRPr sz="2000">
              <a:latin typeface="Times New Roman"/>
              <a:cs typeface="Times New Roman"/>
            </a:endParaRPr>
          </a:p>
          <a:p>
            <a:pPr lvl="1" marL="1111885" indent="-489584">
              <a:lnSpc>
                <a:spcPct val="100000"/>
              </a:lnSpc>
              <a:spcBef>
                <a:spcPts val="20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111188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Performance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Testing: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Checks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efficiency</a:t>
            </a:r>
            <a:endParaRPr sz="2000">
              <a:latin typeface="Times New Roman"/>
              <a:cs typeface="Times New Roman"/>
            </a:endParaRPr>
          </a:p>
          <a:p>
            <a:pPr lvl="1" marL="1111885" indent="-489584">
              <a:lnSpc>
                <a:spcPct val="100000"/>
              </a:lnSpc>
              <a:spcBef>
                <a:spcPts val="20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1111885" algn="l"/>
              </a:tabLst>
            </a:pPr>
            <a:r>
              <a:rPr dirty="0" sz="2000" b="1">
                <a:latin typeface="Times New Roman"/>
                <a:cs typeface="Times New Roman"/>
              </a:rPr>
              <a:t>Security</a:t>
            </a:r>
            <a:r>
              <a:rPr dirty="0" sz="2000" spc="-9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Testing: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safety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protection</a:t>
            </a:r>
            <a:endParaRPr sz="2000">
              <a:latin typeface="Times New Roman"/>
              <a:cs typeface="Times New Roman"/>
            </a:endParaRPr>
          </a:p>
          <a:p>
            <a:pPr lvl="1" marL="1111885" indent="-489584">
              <a:lnSpc>
                <a:spcPct val="100000"/>
              </a:lnSpc>
              <a:spcBef>
                <a:spcPts val="2000"/>
              </a:spcBef>
              <a:buClr>
                <a:srgbClr val="DF5227"/>
              </a:buClr>
              <a:buSzPct val="110000"/>
              <a:buFont typeface="Wingdings"/>
              <a:buChar char=""/>
              <a:tabLst>
                <a:tab pos="1111885" algn="l"/>
              </a:tabLst>
            </a:pPr>
            <a:r>
              <a:rPr dirty="0" sz="2000" spc="-35" b="1">
                <a:latin typeface="Times New Roman"/>
                <a:cs typeface="Times New Roman"/>
              </a:rPr>
              <a:t>Validation</a:t>
            </a:r>
            <a:r>
              <a:rPr dirty="0" sz="2000" spc="-11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Testing: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Confirms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meets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requirements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marL="960119">
              <a:lnSpc>
                <a:spcPct val="100000"/>
              </a:lnSpc>
              <a:spcBef>
                <a:spcPts val="105"/>
              </a:spcBef>
            </a:pPr>
            <a:r>
              <a:rPr dirty="0" sz="4400" spc="-10" b="0">
                <a:solidFill>
                  <a:srgbClr val="DF5227"/>
                </a:solidFill>
                <a:latin typeface="Corbel"/>
                <a:cs typeface="Corbel"/>
              </a:rPr>
              <a:t>screenshot</a:t>
            </a:r>
            <a:endParaRPr sz="4400">
              <a:latin typeface="Corbel"/>
              <a:cs typeface="Corbe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600200"/>
            <a:ext cx="8375904" cy="4291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0283" y="1709927"/>
            <a:ext cx="9258300" cy="3998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9700" y="1709927"/>
            <a:ext cx="9442704" cy="39700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1036" y="1760220"/>
            <a:ext cx="9293352" cy="39334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391" y="1607819"/>
            <a:ext cx="8080248" cy="42306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2920" rIns="0" bIns="0" rtlCol="0" vert="horz">
            <a:spAutoFit/>
          </a:bodyPr>
          <a:lstStyle/>
          <a:p>
            <a:pPr marL="54927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86839" y="1590674"/>
            <a:ext cx="7977505" cy="3807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2920" marR="41910" indent="-490220">
              <a:lnSpc>
                <a:spcPct val="150000"/>
              </a:lnSpc>
              <a:spcBef>
                <a:spcPts val="100"/>
              </a:spcBef>
              <a:buClr>
                <a:srgbClr val="DF5227"/>
              </a:buClr>
              <a:buFont typeface="Wingdings"/>
              <a:buChar char=""/>
              <a:tabLst>
                <a:tab pos="502920" algn="l"/>
              </a:tabLst>
            </a:pPr>
            <a:r>
              <a:rPr dirty="0" sz="1800" spc="-10">
                <a:latin typeface="Times New Roman"/>
                <a:cs typeface="Times New Roman"/>
              </a:rPr>
              <a:t>Developed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Answering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accurate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context-</a:t>
            </a:r>
            <a:r>
              <a:rPr dirty="0" sz="1800" spc="-10">
                <a:latin typeface="Times New Roman"/>
                <a:cs typeface="Times New Roman"/>
              </a:rPr>
              <a:t>aware responses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DF5227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1800" spc="-10">
                <a:latin typeface="Times New Roman"/>
                <a:cs typeface="Times New Roman"/>
              </a:rPr>
              <a:t>Combines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retrieval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overcome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limitations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traditional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systems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DF5227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1800" spc="-10">
                <a:latin typeface="Times New Roman"/>
                <a:cs typeface="Times New Roman"/>
              </a:rPr>
              <a:t>Provides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fast,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reliable,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meaningful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answers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time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DF5227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1800" spc="-10">
                <a:latin typeface="Times New Roman"/>
                <a:cs typeface="Times New Roman"/>
              </a:rPr>
              <a:t>Achieves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accuracy,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efficiency,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5">
                <a:latin typeface="Times New Roman"/>
                <a:cs typeface="Times New Roman"/>
              </a:rPr>
              <a:t>user-</a:t>
            </a:r>
            <a:r>
              <a:rPr dirty="0" sz="1800" spc="-10">
                <a:latin typeface="Times New Roman"/>
                <a:cs typeface="Times New Roman"/>
              </a:rPr>
              <a:t>friendly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interaction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DF5227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1800" spc="-10">
                <a:latin typeface="Times New Roman"/>
                <a:cs typeface="Times New Roman"/>
              </a:rPr>
              <a:t>Suitable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applications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education,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customer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support,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knowledge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systems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DF5227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502284" indent="-489584">
              <a:lnSpc>
                <a:spcPct val="100000"/>
              </a:lnSpc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z="1800" spc="-10">
                <a:latin typeface="Times New Roman"/>
                <a:cs typeface="Times New Roman"/>
              </a:rPr>
              <a:t>Scalable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future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scope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multimodal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enhancements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974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dirty="0" spc="-140"/>
              <a:t> </a:t>
            </a:r>
            <a:r>
              <a:rPr dirty="0" spc="-10"/>
              <a:t>ENHANCEMENTS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80340" rIns="0" bIns="0" rtlCol="0" vert="horz">
            <a:spAutoFit/>
          </a:bodyPr>
          <a:lstStyle/>
          <a:p>
            <a:pPr marL="502284" indent="-489584">
              <a:lnSpc>
                <a:spcPct val="100000"/>
              </a:lnSpc>
              <a:spcBef>
                <a:spcPts val="14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/>
              <a:t>Cloud</a:t>
            </a:r>
            <a:r>
              <a:rPr dirty="0" spc="-120"/>
              <a:t> </a:t>
            </a:r>
            <a:r>
              <a:rPr dirty="0" spc="-10"/>
              <a:t>Integration:</a:t>
            </a:r>
          </a:p>
          <a:p>
            <a:pPr marL="573405">
              <a:lnSpc>
                <a:spcPct val="100000"/>
              </a:lnSpc>
              <a:spcBef>
                <a:spcPts val="1320"/>
              </a:spcBef>
            </a:pPr>
            <a:r>
              <a:rPr dirty="0" spc="-10" b="0">
                <a:latin typeface="Times New Roman"/>
                <a:cs typeface="Times New Roman"/>
              </a:rPr>
              <a:t>Integrate</a:t>
            </a:r>
            <a:r>
              <a:rPr dirty="0" spc="-13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with</a:t>
            </a:r>
            <a:r>
              <a:rPr dirty="0" spc="-140" b="0">
                <a:latin typeface="Times New Roman"/>
                <a:cs typeface="Times New Roman"/>
              </a:rPr>
              <a:t> </a:t>
            </a:r>
            <a:r>
              <a:rPr dirty="0" spc="-70" b="0">
                <a:latin typeface="Times New Roman"/>
                <a:cs typeface="Times New Roman"/>
              </a:rPr>
              <a:t>AWS,</a:t>
            </a:r>
            <a:r>
              <a:rPr dirty="0" spc="-19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Azure,</a:t>
            </a:r>
            <a:r>
              <a:rPr dirty="0" spc="-8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or</a:t>
            </a:r>
            <a:r>
              <a:rPr dirty="0" spc="-6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Google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Cloud</a:t>
            </a:r>
            <a:r>
              <a:rPr dirty="0" spc="-6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scalable</a:t>
            </a:r>
            <a:r>
              <a:rPr dirty="0" spc="-6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data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handling</a:t>
            </a: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pc="-10"/>
              <a:t>Collaboration:</a:t>
            </a:r>
          </a:p>
          <a:p>
            <a:pPr marL="573405">
              <a:lnSpc>
                <a:spcPct val="100000"/>
              </a:lnSpc>
              <a:spcBef>
                <a:spcPts val="1320"/>
              </a:spcBef>
            </a:pPr>
            <a:r>
              <a:rPr dirty="0" b="0">
                <a:latin typeface="Times New Roman"/>
                <a:cs typeface="Times New Roman"/>
              </a:rPr>
              <a:t>Use</a:t>
            </a:r>
            <a:r>
              <a:rPr dirty="0" spc="-8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real-</a:t>
            </a:r>
            <a:r>
              <a:rPr dirty="0" b="0">
                <a:latin typeface="Times New Roman"/>
                <a:cs typeface="Times New Roman"/>
              </a:rPr>
              <a:t>world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network</a:t>
            </a:r>
            <a:r>
              <a:rPr dirty="0" spc="-7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data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from</a:t>
            </a:r>
            <a:r>
              <a:rPr dirty="0" spc="-75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organizations</a:t>
            </a:r>
            <a:r>
              <a:rPr dirty="0" spc="-8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improve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accuracy</a:t>
            </a:r>
          </a:p>
          <a:p>
            <a:pPr marL="502284" indent="-489584">
              <a:lnSpc>
                <a:spcPct val="100000"/>
              </a:lnSpc>
              <a:spcBef>
                <a:spcPts val="132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pc="-10"/>
              <a:t>Scalability:</a:t>
            </a:r>
          </a:p>
          <a:p>
            <a:pPr marL="503555" marR="670560" indent="69850">
              <a:lnSpc>
                <a:spcPts val="3960"/>
              </a:lnSpc>
              <a:spcBef>
                <a:spcPts val="130"/>
              </a:spcBef>
            </a:pPr>
            <a:r>
              <a:rPr dirty="0" b="0">
                <a:latin typeface="Times New Roman"/>
                <a:cs typeface="Times New Roman"/>
              </a:rPr>
              <a:t>Enhance</a:t>
            </a:r>
            <a:r>
              <a:rPr dirty="0" spc="-10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system</a:t>
            </a:r>
            <a:r>
              <a:rPr dirty="0" spc="-9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10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handle</a:t>
            </a:r>
            <a:r>
              <a:rPr dirty="0" spc="-95" b="0">
                <a:latin typeface="Times New Roman"/>
                <a:cs typeface="Times New Roman"/>
              </a:rPr>
              <a:t> </a:t>
            </a:r>
            <a:r>
              <a:rPr dirty="0" spc="-40" b="0">
                <a:latin typeface="Times New Roman"/>
                <a:cs typeface="Times New Roman"/>
              </a:rPr>
              <a:t>large-</a:t>
            </a:r>
            <a:r>
              <a:rPr dirty="0" b="0">
                <a:latin typeface="Times New Roman"/>
                <a:cs typeface="Times New Roman"/>
              </a:rPr>
              <a:t>scale</a:t>
            </a:r>
            <a:r>
              <a:rPr dirty="0" spc="-9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networks</a:t>
            </a:r>
            <a:r>
              <a:rPr dirty="0" spc="-10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(banking,</a:t>
            </a:r>
            <a:r>
              <a:rPr dirty="0" spc="-9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healthcare, telecom)</a:t>
            </a:r>
          </a:p>
          <a:p>
            <a:pPr marL="502284" indent="-489584">
              <a:lnSpc>
                <a:spcPct val="100000"/>
              </a:lnSpc>
              <a:spcBef>
                <a:spcPts val="1190"/>
              </a:spcBef>
              <a:buClr>
                <a:srgbClr val="DF5227"/>
              </a:buClr>
              <a:buFont typeface="Wingdings"/>
              <a:buChar char=""/>
              <a:tabLst>
                <a:tab pos="502284" algn="l"/>
              </a:tabLst>
            </a:pPr>
            <a:r>
              <a:rPr dirty="0" spc="-10"/>
              <a:t>Visualization:</a:t>
            </a:r>
          </a:p>
          <a:p>
            <a:pPr marL="573405">
              <a:lnSpc>
                <a:spcPct val="100000"/>
              </a:lnSpc>
              <a:spcBef>
                <a:spcPts val="1320"/>
              </a:spcBef>
            </a:pPr>
            <a:r>
              <a:rPr dirty="0" b="0">
                <a:latin typeface="Times New Roman"/>
                <a:cs typeface="Times New Roman"/>
              </a:rPr>
              <a:t>Add</a:t>
            </a:r>
            <a:r>
              <a:rPr dirty="0" spc="-10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advanced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charts,</a:t>
            </a:r>
            <a:r>
              <a:rPr dirty="0" spc="-10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heatmaps,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10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predictive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analytics</a:t>
            </a:r>
            <a:r>
              <a:rPr dirty="0" spc="-10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better</a:t>
            </a:r>
            <a:r>
              <a:rPr dirty="0" spc="-10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insights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6760" y="2857944"/>
            <a:ext cx="327279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35">
                <a:solidFill>
                  <a:srgbClr val="000000"/>
                </a:solidFill>
              </a:rPr>
              <a:t>THANK</a:t>
            </a:r>
            <a:r>
              <a:rPr dirty="0" sz="4000" spc="-204">
                <a:solidFill>
                  <a:srgbClr val="000000"/>
                </a:solidFill>
              </a:rPr>
              <a:t> </a:t>
            </a:r>
            <a:r>
              <a:rPr dirty="0" sz="4000" spc="-20">
                <a:solidFill>
                  <a:srgbClr val="000000"/>
                </a:solidFill>
              </a:rPr>
              <a:t>YOU!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/>
  <dcterms:created xsi:type="dcterms:W3CDTF">2026-04-08T02:11:41Z</dcterms:created>
  <dcterms:modified xsi:type="dcterms:W3CDTF">2026-04-08T02:11:41Z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2026-04-08T00:00:00Z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2026-04-08T00:00:00Z</vt:filetime>
  </property>
  <property fmtid="{D5CDD505-2E9C-101B-9397-08002B2CF9AE}" pid="5" name="SourceModified">
    <vt:lpwstr>D:20260408074139+05'30'</vt:lpwstr>
  </property>
</Properties>
</file>